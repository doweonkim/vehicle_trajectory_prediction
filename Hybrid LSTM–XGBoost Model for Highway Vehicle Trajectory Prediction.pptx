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7.xml"/><Relationship Id="rId44" Type="http://schemas.openxmlformats.org/officeDocument/2006/relationships/font" Target="fonts/Lato-bold.fntdata"/><Relationship Id="rId21" Type="http://schemas.openxmlformats.org/officeDocument/2006/relationships/slide" Target="slides/slide16.xml"/><Relationship Id="rId43" Type="http://schemas.openxmlformats.org/officeDocument/2006/relationships/font" Target="fonts/Lato-regular.fntdata"/><Relationship Id="rId24" Type="http://schemas.openxmlformats.org/officeDocument/2006/relationships/slide" Target="slides/slide19.xml"/><Relationship Id="rId46" Type="http://schemas.openxmlformats.org/officeDocument/2006/relationships/font" Target="fonts/Lato-boldItalic.fntdata"/><Relationship Id="rId23" Type="http://schemas.openxmlformats.org/officeDocument/2006/relationships/slide" Target="slides/slide18.xml"/><Relationship Id="rId45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123131e2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123131e2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123131e2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123131e2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123131e2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123131e2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123131e2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123131e2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123131e2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123131e2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123131e2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123131e2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123131e2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123131e2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123131e2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123131e2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123131e2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123131e2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123131e2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123131e2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123131e2f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123131e2f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123131e2f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123131e2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123131e2f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123131e2f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123131e2f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123131e2f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123131e2f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123131e2f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123131e2f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123131e2f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123131e2f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123131e2f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123131e2f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123131e2f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123131e2f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123131e2f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123131e2f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9123131e2f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123131e2f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9123131e2f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123131e2f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9123131e2f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123131e2f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123131e2f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123131e2f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123131e2f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123131e2f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123131e2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123131e2f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123131e2f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123131e2f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9123131e2f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123131e2f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9123131e2f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123131e2f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9123131e2f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123131e2f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123131e2f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123131e2f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9123131e2f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123131e2f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123131e2f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Hybrid LSTM–XGBoost Model for Highway Vehicle Trajectory Prediction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513275"/>
            <a:ext cx="3470700" cy="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Doweon Kim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CSCI 538 – Final Project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November 30, 2025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Introduction &amp; Problem Definition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Dataset( NGSIM US-101)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Model Architecture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LSTM Prediction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Residual Correction(XGBoost)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Hybrid Model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Results &amp; Evaluation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Discussion &amp; Insights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Conclusion &amp; Feature Work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Vehicle trajectory prediction is essential for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autonomous driving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lane-change assistance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traffic modeling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Predicting future positions is difficult because vehicles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accelerate, decelerate, and interact with surrounding traffic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Thus, time-series models (e.g.,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LSTM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) are commonly used to capture motion patterns.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 Problem Definition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21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7"/>
              <a:buFont typeface="Arial"/>
              <a:buChar char="●"/>
            </a:pPr>
            <a: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  <a:t>Goal: Predict the next Local_X and Local_Y positions of a vehicle on a highway.</a:t>
            </a:r>
            <a:b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21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7"/>
              <a:buFont typeface="Times New Roman"/>
              <a:buChar char="●"/>
            </a:pPr>
            <a: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  <a:t>Issue:</a:t>
            </a:r>
            <a:b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21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7"/>
              <a:buFont typeface="Arial"/>
              <a:buChar char="○"/>
            </a:pPr>
            <a: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  <a:t>LSTM performs well in X-direction (lateral movement).</a:t>
            </a:r>
            <a:b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21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7"/>
              <a:buFont typeface="Arial"/>
              <a:buChar char="○"/>
            </a:pPr>
            <a: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  <a:t>But Y-direction (longitudinal / forward movement) shows large drift and accumulated errors.</a:t>
            </a:r>
            <a:b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21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7"/>
              <a:buFont typeface="Times New Roman"/>
              <a:buChar char="●"/>
            </a:pPr>
            <a: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  <a:t>Challenge:</a:t>
            </a:r>
            <a:b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6">
                <a:latin typeface="Times New Roman"/>
                <a:ea typeface="Times New Roman"/>
                <a:cs typeface="Times New Roman"/>
                <a:sym typeface="Times New Roman"/>
              </a:rPr>
              <a:t> → Reduce Y-axis drift and improve overall trajectory accuracy.</a:t>
            </a:r>
            <a:endParaRPr sz="120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NGSIM US-101 Dataset Overview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Collected by the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U.S. Department of Transportation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Contains high-resolution highway vehicle trajectories (10 Hz).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Includes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positions, velocity, acceleration, lanes, and surrounding vehicle IDs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Widely used in research for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realistic traffic behavior modeling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Key Features Used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Local_X, Local_Y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(vehicle position)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v_Vel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(velocity)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v_Acc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(acceleration)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Computed features: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speed, acceleration, heading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Why US-101 Section?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Smaller and more manageable dataset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Has cleaner lane structure → easier trajectory modeling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Suitable for early model development and experimentation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Preprocessing</a:t>
            </a:r>
            <a:endParaRPr b="1"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Cleaning Raw NGSIM Data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Data Filtering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Cleaning Raw NGSIM Data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Removed missing values, jump frames, and tracking errors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→ e.g., wrong Frame_ID sequence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Filtered out unrealistic speeds and abnormal accelerations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Downsampled data from 10 Hz → 1 Hz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→ reduces noise, smoother trajectory sequences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Converted units : Feet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Meters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Computed additional Features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○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Speed(from position change)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○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Acceleration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○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Heading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Selected final features for Modeling 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○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Local_X, Local_Y, speed, v_vel, v_Acc, acceleration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Data Filtering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Kept only vehicles with ≥ 30 frames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→ ensures enough sequence for LSTM training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Removed vehicles with inconsistent tracking patterns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Separated train/val/test by Vehicle_ID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→ prevents data leakage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Data Processing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02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Scaling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Sequence Generation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Scaling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Applied MinMaxScaler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Fitted only on training set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Applied to validation/test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Sequence Generation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Used a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sliding-window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method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Tested sequence lengths: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5, 8, 10</a:t>
            </a: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Final model uses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seq_len = 10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(best validation performance)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LSTM Model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Model Architecture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Training Settings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Sequence Length Experiments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Key observation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Model Architecture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LSTM Layer(64)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Dense layer (32)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Output layer : 2 values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Next _Step : Local_X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Next_Step : </a:t>
            </a:r>
            <a:r>
              <a:rPr lang="en"/>
              <a:t>Local_Y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Training Settings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Loss function: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MSE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Optimizer: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Adam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Early stopping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applied to prevent overfitting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Sequence Length Experiments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Tested: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5, 8, 10</a:t>
            </a:r>
            <a:b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Best validation performance: 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seq_len = 10</a:t>
            </a:r>
            <a:b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Chosen for final model training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Key Observation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LSTM predicts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Local_X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well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But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Local_Y shows large drift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over time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→ motivates need for residual correction (XGBoost)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Residual Correction (XGBoost)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4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Why is correction needed?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What does XGBoost do?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Why correct only Y?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How is it used in the final model?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Why is correction needed?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The LSTM model predicts X positions accurately,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but shows significant drift in the Y direction over time.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 correction module is needed to reduce this accumulated Y-error.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What does XGBoost do?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XGBoost learns the error pattern that the LSTM makes.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It works like an “error corrector” by learning how much the LSTM prediction is off.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Instead of predicting positions, it predicts how wrong the LSTM was.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Why correct only Y?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X direction is already very accurate → correction wasn’t helpful.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Y direction improves noticeably when corrected.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Therefore, only the 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Y residual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is adjusted by XGBoost.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How is it used in the final model?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X stays exactly as predicted by the LSTM.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Y is updated using XGBoost correction.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This significantly reduces drift and produces a more stable trajectory.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Hybrid Model (LSTM + XGBoost)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LSTM predicts the initial (X, Y).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XGBoost corrects only Y to reduce drift.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Final Output = X from LSTM, Y from corrected result.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Produces a more accurate and stable trajectory.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Results &amp; Evaluation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38"/>
          <p:cNvSpPr txBox="1"/>
          <p:nvPr>
            <p:ph idx="1" type="body"/>
          </p:nvPr>
        </p:nvSpPr>
        <p:spPr>
          <a:xfrm>
            <a:off x="1297500" y="16002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LSTM shows strong performance in X but large drift in Y.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Hybrid model greatly reduces Y-direction error.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Overall 2D accuracy improves significantly.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Corrected trajectory follows the true path more closely.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Visual Comparison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Trajectory Comparison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Residual Scatter Plot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MSE Bar chart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Trajectory Comparison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40"/>
          <p:cNvSpPr txBox="1"/>
          <p:nvPr>
            <p:ph idx="1" type="body"/>
          </p:nvPr>
        </p:nvSpPr>
        <p:spPr>
          <a:xfrm>
            <a:off x="1297500" y="1567550"/>
            <a:ext cx="3063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The corrected trajectory (Green) stays closer to the true path than the LSTM prediction (Blue).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LSTM drifts away in the Y direction, but the hybrid model reduces this drift significantly.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The overall movement becomes more aligned with real vehicle behavior.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350" y="1373075"/>
            <a:ext cx="3996732" cy="29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Residual Scatter Plot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41"/>
          <p:cNvSpPr txBox="1"/>
          <p:nvPr>
            <p:ph idx="1" type="body"/>
          </p:nvPr>
        </p:nvSpPr>
        <p:spPr>
          <a:xfrm>
            <a:off x="1297500" y="1567550"/>
            <a:ext cx="3274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LSTM residuals form a wider spread, especially along the Y axis.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After correction, residuals become more concentrated near the center.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Fewer large Y-errors → shows that the hybrid model reduces high-magnitude mistakes.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525" y="1257725"/>
            <a:ext cx="3557265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MSE Bar Chart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42"/>
          <p:cNvSpPr txBox="1"/>
          <p:nvPr>
            <p:ph idx="1" type="body"/>
          </p:nvPr>
        </p:nvSpPr>
        <p:spPr>
          <a:xfrm>
            <a:off x="1297500" y="1567550"/>
            <a:ext cx="3274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X MSE: unchanged (X is not corrected).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Y MSE: significantly lower after correction.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Total MSE: reduced noticeably → confirms overall improvement.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750" y="475275"/>
            <a:ext cx="4010025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2"/>
          <p:cNvSpPr txBox="1"/>
          <p:nvPr/>
        </p:nvSpPr>
        <p:spPr>
          <a:xfrm>
            <a:off x="4702750" y="3831650"/>
            <a:ext cx="370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Improvement: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X: 0%   (unchanged)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Y: 34.97%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Total: 34.97%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 Discussion &amp; Insights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LSTM predicts X well but drifts in Y.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XGBoost effectively corrects Y errors → hybrid model is stronger.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Longer sequence length improves prediction.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Vehicle data characteristics shaped the modeling choices.</a:t>
            </a:r>
            <a:b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4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Hybrid model (LSTM + XGBoost) improves Y drift and overall accuracy.</a:t>
            </a:r>
            <a:b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LSTM handles trends; XGBoost fixes remaining errors.</a:t>
            </a:r>
            <a:b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Achieved more stable, realistic trajectory predictions.</a:t>
            </a:r>
            <a:b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GRU, Transformer models</a:t>
            </a:r>
            <a:b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Multi-step forecasting</a:t>
            </a:r>
            <a:b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Use surrounding vehicle data</a:t>
            </a:r>
            <a:b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Explore longer sequences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5"/>
          <p:cNvSpPr txBox="1"/>
          <p:nvPr>
            <p:ph type="title"/>
          </p:nvPr>
        </p:nvSpPr>
        <p:spPr>
          <a:xfrm>
            <a:off x="1052550" y="1920175"/>
            <a:ext cx="7038900" cy="14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